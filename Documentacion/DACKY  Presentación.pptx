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8288000" cy="10287000"/>
  <p:notesSz cx="6858000" cy="9144000"/>
  <p:embeddedFontLst>
    <p:embeddedFont>
      <p:font typeface="Londrina Solid Heavy" charset="1" panose="00000A00000000000000"/>
      <p:regular r:id="rId47"/>
    </p:embeddedFont>
    <p:embeddedFont>
      <p:font typeface="Inter Bold" charset="1" panose="020B0802030000000004"/>
      <p:regular r:id="rId48"/>
    </p:embeddedFont>
    <p:embeddedFont>
      <p:font typeface="Calibri (MS)" charset="1" panose="020F0502020204030204"/>
      <p:regular r:id="rId49"/>
    </p:embeddedFont>
    <p:embeddedFont>
      <p:font typeface="Arimo" charset="1" panose="020B0604020202020204"/>
      <p:regular r:id="rId50"/>
    </p:embeddedFont>
    <p:embeddedFont>
      <p:font typeface="Arimo Bold" charset="1" panose="020B0704020202020204"/>
      <p:regular r:id="rId51"/>
    </p:embeddedFont>
    <p:embeddedFont>
      <p:font typeface="Open Sans" charset="1" panose="020B0606030504020204"/>
      <p:regular r:id="rId52"/>
    </p:embeddedFont>
    <p:embeddedFont>
      <p:font typeface="Open Sans Bold" charset="1" panose="020B0806030504020204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3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0.png" Type="http://schemas.openxmlformats.org/officeDocument/2006/relationships/image"/><Relationship Id="rId5" Target="https://drive.google.com/file/d/1ngMyp_WXRwnqGr2QbY8CSXUlTbZyGmDH/view?usp=drive_web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5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https://www.figma.com/design/U0fAbrj8HVzxeaCmilv5iM/Mockups-de-la-App-Dacky?node-id=1-2&amp;t=56JPwizG62c7a7TX-1" TargetMode="External" Type="http://schemas.openxmlformats.org/officeDocument/2006/relationships/hyperlink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https://www.figma.com/design/U0fAbrj8HVzxeaCmilv5iM/Mockups-de-la-App-Dacky?node-id=1-2&amp;t=56JPwizG62c7a7TX-1" TargetMode="External" Type="http://schemas.openxmlformats.org/officeDocument/2006/relationships/hyperlink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5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53.png" Type="http://schemas.openxmlformats.org/officeDocument/2006/relationships/image"/><Relationship Id="rId5" Target="../media/image3.png" Type="http://schemas.openxmlformats.org/officeDocument/2006/relationships/image"/><Relationship Id="rId6" Target="../media/image1.png" Type="http://schemas.openxmlformats.org/officeDocument/2006/relationships/image"/><Relationship Id="rId7" Target="https://www.notion.so/Proyecto-Dacky-21b943cbb6a380888af8fcc987ac841b?source=copy_link" TargetMode="External" Type="http://schemas.openxmlformats.org/officeDocument/2006/relationships/hyperlink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.png" Type="http://schemas.openxmlformats.org/officeDocument/2006/relationships/image"/><Relationship Id="rId6" Target="../media/image1.png" Type="http://schemas.openxmlformats.org/officeDocument/2006/relationships/image"/><Relationship Id="rId7" Target="https://www.notion.so/Proyecto-Dacky-21b943cbb6a380888af8fcc987ac841b?source=copy_link" TargetMode="External" Type="http://schemas.openxmlformats.org/officeDocument/2006/relationships/hyperlink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64496" y="8223275"/>
            <a:ext cx="1631053" cy="1644626"/>
            <a:chOff x="0" y="0"/>
            <a:chExt cx="2174737" cy="21928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4748" cy="2192782"/>
            </a:xfrm>
            <a:custGeom>
              <a:avLst/>
              <a:gdLst/>
              <a:ahLst/>
              <a:cxnLst/>
              <a:rect r="r" b="b" t="t" l="l"/>
              <a:pathLst>
                <a:path h="2192782" w="2174748">
                  <a:moveTo>
                    <a:pt x="0" y="0"/>
                  </a:moveTo>
                  <a:lnTo>
                    <a:pt x="2174748" y="0"/>
                  </a:lnTo>
                  <a:lnTo>
                    <a:pt x="2174748" y="2192782"/>
                  </a:lnTo>
                  <a:lnTo>
                    <a:pt x="0" y="219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6" t="0" r="-415" b="-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3171822"/>
            <a:ext cx="7327649" cy="19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99"/>
              </a:lnSpc>
            </a:pPr>
            <a:r>
              <a:rPr lang="en-US" sz="15000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DACKY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20507" y="5095875"/>
            <a:ext cx="8454670" cy="185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392">
                <a:solidFill>
                  <a:srgbClr val="11120D"/>
                </a:solidFill>
                <a:latin typeface="Inter Bold"/>
                <a:ea typeface="Inter Bold"/>
                <a:cs typeface="Inter Bold"/>
                <a:sym typeface="Inter Bold"/>
              </a:rPr>
              <a:t>PRESENTADO POR: VICTORIA VIELMA</a:t>
            </a:r>
          </a:p>
          <a:p>
            <a:pPr algn="l">
              <a:lnSpc>
                <a:spcPts val="3640"/>
              </a:lnSpc>
            </a:pPr>
            <a:r>
              <a:rPr lang="en-US" b="true" sz="2600" spc="392">
                <a:solidFill>
                  <a:srgbClr val="11120D"/>
                </a:solidFill>
                <a:latin typeface="Inter Bold"/>
                <a:ea typeface="Inter Bold"/>
                <a:cs typeface="Inter Bold"/>
                <a:sym typeface="Inter Bold"/>
              </a:rPr>
              <a:t>ANALISIS Y DESARROLLO DE SOFTWARE</a:t>
            </a:r>
          </a:p>
          <a:p>
            <a:pPr algn="l">
              <a:lnSpc>
                <a:spcPts val="3640"/>
              </a:lnSpc>
            </a:pPr>
            <a:r>
              <a:rPr lang="en-US" b="true" sz="2600" spc="392">
                <a:solidFill>
                  <a:srgbClr val="11120D"/>
                </a:solidFill>
                <a:latin typeface="Inter Bold"/>
                <a:ea typeface="Inter Bold"/>
                <a:cs typeface="Inter Bold"/>
                <a:sym typeface="Inter Bold"/>
              </a:rPr>
              <a:t>INSTRUCTOR: GUILLERMO BURGOS</a:t>
            </a:r>
          </a:p>
          <a:p>
            <a:pPr algn="l">
              <a:lnSpc>
                <a:spcPts val="3640"/>
              </a:lnSpc>
            </a:pPr>
            <a:r>
              <a:rPr lang="en-US" b="true" sz="2600" spc="392">
                <a:solidFill>
                  <a:srgbClr val="11120D"/>
                </a:solidFill>
                <a:latin typeface="Inter Bold"/>
                <a:ea typeface="Inter Bold"/>
                <a:cs typeface="Inter Bold"/>
                <a:sym typeface="Inter Bold"/>
              </a:rPr>
              <a:t>FECHA: 8 ABRIL 2025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12965" y="8194850"/>
            <a:ext cx="6677363" cy="1622537"/>
            <a:chOff x="0" y="0"/>
            <a:chExt cx="8903151" cy="2163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03208" cy="2163445"/>
            </a:xfrm>
            <a:custGeom>
              <a:avLst/>
              <a:gdLst/>
              <a:ahLst/>
              <a:cxnLst/>
              <a:rect r="r" b="b" t="t" l="l"/>
              <a:pathLst>
                <a:path h="2163445" w="8903208">
                  <a:moveTo>
                    <a:pt x="0" y="0"/>
                  </a:moveTo>
                  <a:lnTo>
                    <a:pt x="8903208" y="0"/>
                  </a:lnTo>
                  <a:lnTo>
                    <a:pt x="8903208" y="2163445"/>
                  </a:lnTo>
                  <a:lnTo>
                    <a:pt x="0" y="2163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2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533747" y="277077"/>
            <a:ext cx="2228109" cy="1129315"/>
            <a:chOff x="0" y="0"/>
            <a:chExt cx="2970812" cy="15057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70784" cy="1505712"/>
            </a:xfrm>
            <a:custGeom>
              <a:avLst/>
              <a:gdLst/>
              <a:ahLst/>
              <a:cxnLst/>
              <a:rect r="r" b="b" t="t" l="l"/>
              <a:pathLst>
                <a:path h="1505712" w="2970784">
                  <a:moveTo>
                    <a:pt x="0" y="0"/>
                  </a:moveTo>
                  <a:lnTo>
                    <a:pt x="2970784" y="0"/>
                  </a:lnTo>
                  <a:lnTo>
                    <a:pt x="2970784" y="1505712"/>
                  </a:lnTo>
                  <a:lnTo>
                    <a:pt x="0" y="1505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36650" y="4033866"/>
            <a:ext cx="9993792" cy="1717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¿Qué es DACKY?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71934" y="7704619"/>
            <a:ext cx="1553681" cy="1553681"/>
            <a:chOff x="0" y="0"/>
            <a:chExt cx="2071575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136650" y="5751513"/>
            <a:ext cx="7849873" cy="0"/>
          </a:xfrm>
          <a:prstGeom prst="line">
            <a:avLst/>
          </a:prstGeom>
          <a:ln cap="rnd" w="9525">
            <a:solidFill>
              <a:srgbClr val="38AA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76400" y="2857500"/>
            <a:ext cx="7649727" cy="487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Dacky es una aplicación móvil diseñada para el rastreo GPS de mascotas, permitiendo a los dueños gestionar la información básica de sus mascotas, tarjeta virtual de vacunas y facilitar su recuperación en caso de extravío mediante un código QR en el collar.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295400" y="753823"/>
            <a:ext cx="9084350" cy="151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87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Descripción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482964" y="3054708"/>
            <a:ext cx="4177585" cy="4177585"/>
            <a:chOff x="0" y="0"/>
            <a:chExt cx="2071575" cy="2071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36650" y="4033866"/>
            <a:ext cx="9993792" cy="1717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Justificación</a:t>
            </a: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71934" y="7704619"/>
            <a:ext cx="1553681" cy="1553681"/>
            <a:chOff x="0" y="0"/>
            <a:chExt cx="2071575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136655" y="5734050"/>
            <a:ext cx="7111898" cy="17462"/>
          </a:xfrm>
          <a:prstGeom prst="line">
            <a:avLst/>
          </a:prstGeom>
          <a:ln cap="rnd" w="9525">
            <a:solidFill>
              <a:srgbClr val="38AA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413802" y="3038475"/>
          <a:ext cx="15460397" cy="2105025"/>
        </p:xfrm>
        <a:graphic>
          <a:graphicData uri="http://schemas.openxmlformats.org/drawingml/2006/table">
            <a:tbl>
              <a:tblPr/>
              <a:tblGrid>
                <a:gridCol w="7655438"/>
                <a:gridCol w="7804959"/>
              </a:tblGrid>
              <a:tr h="21050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Alta tasa de perros extraviados sin posibilidad de identificación o contacto.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38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38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38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38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Aporta tranquilidad al dueño, moderniza el cuidado de mascotas y permite acción rápida ante emergencias.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38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38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38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38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2265218" y="5899391"/>
            <a:ext cx="5661313" cy="3488965"/>
            <a:chOff x="0" y="0"/>
            <a:chExt cx="877086" cy="5405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7086" cy="540532"/>
            </a:xfrm>
            <a:custGeom>
              <a:avLst/>
              <a:gdLst/>
              <a:ahLst/>
              <a:cxnLst/>
              <a:rect r="r" b="b" t="t" l="l"/>
              <a:pathLst>
                <a:path h="540532" w="877086">
                  <a:moveTo>
                    <a:pt x="31453" y="0"/>
                  </a:moveTo>
                  <a:lnTo>
                    <a:pt x="845633" y="0"/>
                  </a:lnTo>
                  <a:cubicBezTo>
                    <a:pt x="863004" y="0"/>
                    <a:pt x="877086" y="14082"/>
                    <a:pt x="877086" y="31453"/>
                  </a:cubicBezTo>
                  <a:lnTo>
                    <a:pt x="877086" y="509079"/>
                  </a:lnTo>
                  <a:cubicBezTo>
                    <a:pt x="877086" y="526450"/>
                    <a:pt x="863004" y="540532"/>
                    <a:pt x="845633" y="540532"/>
                  </a:cubicBezTo>
                  <a:lnTo>
                    <a:pt x="31453" y="540532"/>
                  </a:lnTo>
                  <a:cubicBezTo>
                    <a:pt x="23111" y="540532"/>
                    <a:pt x="15111" y="537218"/>
                    <a:pt x="9212" y="531320"/>
                  </a:cubicBezTo>
                  <a:cubicBezTo>
                    <a:pt x="3314" y="525421"/>
                    <a:pt x="0" y="517421"/>
                    <a:pt x="0" y="509079"/>
                  </a:cubicBezTo>
                  <a:lnTo>
                    <a:pt x="0" y="31453"/>
                  </a:lnTo>
                  <a:cubicBezTo>
                    <a:pt x="0" y="23111"/>
                    <a:pt x="3314" y="15111"/>
                    <a:pt x="9212" y="9212"/>
                  </a:cubicBezTo>
                  <a:cubicBezTo>
                    <a:pt x="15111" y="3314"/>
                    <a:pt x="23111" y="0"/>
                    <a:pt x="3145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7365" r="0" b="-7997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340687" y="5899391"/>
            <a:ext cx="5661313" cy="3488965"/>
            <a:chOff x="0" y="0"/>
            <a:chExt cx="877086" cy="5405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7086" cy="540532"/>
            </a:xfrm>
            <a:custGeom>
              <a:avLst/>
              <a:gdLst/>
              <a:ahLst/>
              <a:cxnLst/>
              <a:rect r="r" b="b" t="t" l="l"/>
              <a:pathLst>
                <a:path h="540532" w="877086">
                  <a:moveTo>
                    <a:pt x="31453" y="0"/>
                  </a:moveTo>
                  <a:lnTo>
                    <a:pt x="845633" y="0"/>
                  </a:lnTo>
                  <a:cubicBezTo>
                    <a:pt x="863004" y="0"/>
                    <a:pt x="877086" y="14082"/>
                    <a:pt x="877086" y="31453"/>
                  </a:cubicBezTo>
                  <a:lnTo>
                    <a:pt x="877086" y="509079"/>
                  </a:lnTo>
                  <a:cubicBezTo>
                    <a:pt x="877086" y="526450"/>
                    <a:pt x="863004" y="540532"/>
                    <a:pt x="845633" y="540532"/>
                  </a:cubicBezTo>
                  <a:lnTo>
                    <a:pt x="31453" y="540532"/>
                  </a:lnTo>
                  <a:cubicBezTo>
                    <a:pt x="23111" y="540532"/>
                    <a:pt x="15111" y="537218"/>
                    <a:pt x="9212" y="531320"/>
                  </a:cubicBezTo>
                  <a:cubicBezTo>
                    <a:pt x="3314" y="525421"/>
                    <a:pt x="0" y="517421"/>
                    <a:pt x="0" y="509079"/>
                  </a:cubicBezTo>
                  <a:lnTo>
                    <a:pt x="0" y="31453"/>
                  </a:lnTo>
                  <a:cubicBezTo>
                    <a:pt x="0" y="23111"/>
                    <a:pt x="3314" y="15111"/>
                    <a:pt x="9212" y="9212"/>
                  </a:cubicBezTo>
                  <a:cubicBezTo>
                    <a:pt x="15111" y="3314"/>
                    <a:pt x="23111" y="0"/>
                    <a:pt x="3145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55429" r="0" b="-683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53699" y="1286980"/>
            <a:ext cx="9084350" cy="151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87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Problema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74616" y="1286980"/>
            <a:ext cx="9084350" cy="151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87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Solución</a:t>
            </a: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 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102739"/>
            <a:ext cx="16230600" cy="7993571"/>
          </a:xfrm>
          <a:custGeom>
            <a:avLst/>
            <a:gdLst/>
            <a:ahLst/>
            <a:cxnLst/>
            <a:rect r="r" b="b" t="t" l="l"/>
            <a:pathLst>
              <a:path h="7993571" w="16230600">
                <a:moveTo>
                  <a:pt x="0" y="0"/>
                </a:moveTo>
                <a:lnTo>
                  <a:pt x="16230600" y="0"/>
                </a:lnTo>
                <a:lnTo>
                  <a:pt x="16230600" y="7993571"/>
                </a:lnTo>
                <a:lnTo>
                  <a:pt x="0" y="7993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06570" y="342900"/>
            <a:ext cx="9084350" cy="151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87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Diagrama de Causa y Efecto 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36650" y="4024356"/>
            <a:ext cx="11874295" cy="172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Análisis y</a:t>
            </a: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 Contexto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71934" y="7704619"/>
            <a:ext cx="1553681" cy="1553681"/>
            <a:chOff x="0" y="0"/>
            <a:chExt cx="2071575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rot="3672">
            <a:off x="1136647" y="5753100"/>
            <a:ext cx="11887002" cy="0"/>
          </a:xfrm>
          <a:prstGeom prst="line">
            <a:avLst/>
          </a:prstGeom>
          <a:ln cap="rnd" w="9525">
            <a:solidFill>
              <a:srgbClr val="38AA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9808" y="2590647"/>
            <a:ext cx="3244881" cy="32448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6947" y="6565053"/>
            <a:ext cx="3387741" cy="338774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48033" y="2590647"/>
            <a:ext cx="4711267" cy="2458263"/>
            <a:chOff x="0" y="0"/>
            <a:chExt cx="1296832" cy="6766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6832" cy="676666"/>
            </a:xfrm>
            <a:custGeom>
              <a:avLst/>
              <a:gdLst/>
              <a:ahLst/>
              <a:cxnLst/>
              <a:rect r="r" b="b" t="t" l="l"/>
              <a:pathLst>
                <a:path h="676666" w="1296832">
                  <a:moveTo>
                    <a:pt x="648416" y="0"/>
                  </a:moveTo>
                  <a:cubicBezTo>
                    <a:pt x="290306" y="0"/>
                    <a:pt x="0" y="151477"/>
                    <a:pt x="0" y="338333"/>
                  </a:cubicBezTo>
                  <a:cubicBezTo>
                    <a:pt x="0" y="525189"/>
                    <a:pt x="290306" y="676666"/>
                    <a:pt x="648416" y="676666"/>
                  </a:cubicBezTo>
                  <a:cubicBezTo>
                    <a:pt x="1006526" y="676666"/>
                    <a:pt x="1296832" y="525189"/>
                    <a:pt x="1296832" y="338333"/>
                  </a:cubicBezTo>
                  <a:cubicBezTo>
                    <a:pt x="1296832" y="151477"/>
                    <a:pt x="1006526" y="0"/>
                    <a:pt x="648416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7796" r="0" b="-1779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450879" y="5544210"/>
            <a:ext cx="2905575" cy="4039215"/>
            <a:chOff x="0" y="0"/>
            <a:chExt cx="834938" cy="11606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4938" cy="1160698"/>
            </a:xfrm>
            <a:custGeom>
              <a:avLst/>
              <a:gdLst/>
              <a:ahLst/>
              <a:cxnLst/>
              <a:rect r="r" b="b" t="t" l="l"/>
              <a:pathLst>
                <a:path h="1160698" w="834938">
                  <a:moveTo>
                    <a:pt x="417469" y="0"/>
                  </a:moveTo>
                  <a:cubicBezTo>
                    <a:pt x="186907" y="0"/>
                    <a:pt x="0" y="259831"/>
                    <a:pt x="0" y="580349"/>
                  </a:cubicBezTo>
                  <a:cubicBezTo>
                    <a:pt x="0" y="900867"/>
                    <a:pt x="186907" y="1160698"/>
                    <a:pt x="417469" y="1160698"/>
                  </a:cubicBezTo>
                  <a:cubicBezTo>
                    <a:pt x="648031" y="1160698"/>
                    <a:pt x="834938" y="900867"/>
                    <a:pt x="834938" y="580349"/>
                  </a:cubicBezTo>
                  <a:cubicBezTo>
                    <a:pt x="834938" y="259831"/>
                    <a:pt x="648031" y="0"/>
                    <a:pt x="417469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627" r="0" b="-1627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674274" y="656203"/>
            <a:ext cx="12939453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Análisis de Competencia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99596" y="3253144"/>
            <a:ext cx="5777401" cy="214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Poca integración entre identificación, tarjetas de vacunas virtual y rastreo GPS, en aplicativos para mascotas.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93417" y="5105400"/>
            <a:ext cx="3657600" cy="53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11120D"/>
                </a:solidFill>
                <a:latin typeface="Inter Bold"/>
                <a:ea typeface="Inter Bold"/>
                <a:cs typeface="Inter Bold"/>
                <a:sym typeface="Inter Bold"/>
              </a:rPr>
              <a:t>AppGPS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25934" y="5920573"/>
            <a:ext cx="3657600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11120D"/>
                </a:solidFill>
                <a:latin typeface="Inter Bold"/>
                <a:ea typeface="Inter Bold"/>
                <a:cs typeface="Inter Bold"/>
                <a:sym typeface="Inter Bold"/>
              </a:rPr>
              <a:t>DogCatApp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59155" y="7032029"/>
            <a:ext cx="4948257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>
                <a:solidFill>
                  <a:srgbClr val="11120D"/>
                </a:solidFill>
                <a:latin typeface="Calibri (MS)"/>
                <a:ea typeface="Calibri (MS)"/>
                <a:cs typeface="Calibri (MS)"/>
                <a:sym typeface="Calibri (MS)"/>
              </a:rPr>
              <a:t>Ejemplos de apps que no integran funcionalidades básicas en una sola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581765" y="1325899"/>
            <a:ext cx="9103688" cy="8812780"/>
          </a:xfrm>
          <a:custGeom>
            <a:avLst/>
            <a:gdLst/>
            <a:ahLst/>
            <a:cxnLst/>
            <a:rect r="r" b="b" t="t" l="l"/>
            <a:pathLst>
              <a:path h="8812780" w="9103688">
                <a:moveTo>
                  <a:pt x="0" y="0"/>
                </a:moveTo>
                <a:lnTo>
                  <a:pt x="9103688" y="0"/>
                </a:lnTo>
                <a:lnTo>
                  <a:pt x="9103688" y="8812780"/>
                </a:lnTo>
                <a:lnTo>
                  <a:pt x="0" y="8812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63882" y="295274"/>
            <a:ext cx="12939453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Cuadro Comparativo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39479" y="4175147"/>
            <a:ext cx="11702381" cy="172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Alcance de Proyecto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71934" y="7704619"/>
            <a:ext cx="1553681" cy="1553681"/>
            <a:chOff x="0" y="0"/>
            <a:chExt cx="2071575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flipV="true">
            <a:off x="1539479" y="5907066"/>
            <a:ext cx="11482705" cy="0"/>
          </a:xfrm>
          <a:prstGeom prst="line">
            <a:avLst/>
          </a:prstGeom>
          <a:ln cap="rnd" w="9525">
            <a:solidFill>
              <a:srgbClr val="38AA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8377" y="2699983"/>
            <a:ext cx="8706410" cy="587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Desarrollar una aplicación móvil que permita a los usuarios registrar y rastrear a sus mascotas, integrando funcionalidades como: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✔️ Registro de la información de la mascota.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✔️ Tarjeta de vacunas digital.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✔️ Escaneo de código QR para mostrar la información de contacto en caso de pérdida.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Integración funcional excluyente: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✔️ Seguimiento en tiempo real mediante GPS.</a:t>
            </a:r>
          </a:p>
          <a:p>
            <a:pPr algn="l">
              <a:lnSpc>
                <a:spcPts val="4160"/>
              </a:lnSpc>
            </a:pP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0434" y="914418"/>
            <a:ext cx="4115920" cy="493776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333394" y="2910428"/>
            <a:ext cx="2874391" cy="493776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033530" y="5291782"/>
            <a:ext cx="4745273" cy="3630222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153445" y="786162"/>
            <a:ext cx="11591429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Objetivos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32159" y="3370689"/>
            <a:ext cx="7027141" cy="4660048"/>
            <a:chOff x="0" y="0"/>
            <a:chExt cx="9369522" cy="621339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968" r="0" b="968"/>
            <a:stretch>
              <a:fillRect/>
            </a:stretch>
          </p:blipFill>
          <p:spPr>
            <a:xfrm flipH="false" flipV="false">
              <a:off x="0" y="0"/>
              <a:ext cx="4621261" cy="3043199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17220" r="0" b="17220"/>
            <a:stretch>
              <a:fillRect/>
            </a:stretch>
          </p:blipFill>
          <p:spPr>
            <a:xfrm flipH="false" flipV="false">
              <a:off x="4748261" y="0"/>
              <a:ext cx="4621261" cy="3043199"/>
            </a:xfrm>
            <a:prstGeom prst="rect">
              <a:avLst/>
            </a:prstGeom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893" t="0" r="1893" b="0"/>
            <a:stretch>
              <a:fillRect/>
            </a:stretch>
          </p:blipFill>
          <p:spPr>
            <a:xfrm flipH="false" flipV="false">
              <a:off x="0" y="3170199"/>
              <a:ext cx="9369522" cy="3043199"/>
            </a:xfrm>
            <a:prstGeom prst="rect">
              <a:avLst/>
            </a:prstGeom>
          </p:spPr>
        </p:pic>
      </p:grpSp>
      <p:sp>
        <p:nvSpPr>
          <p:cNvPr name="TextBox 6" id="6"/>
          <p:cNvSpPr txBox="true"/>
          <p:nvPr/>
        </p:nvSpPr>
        <p:spPr>
          <a:xfrm rot="0">
            <a:off x="3544270" y="786162"/>
            <a:ext cx="11591429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Colaboracion Externa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88377" y="2971800"/>
            <a:ext cx="7851607" cy="540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 funcionalidad de rastreo GPS no será desarrollada directamente por mi. En su lugar, colaboraremos con una empresa especializada en tecnología de geolocalización: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✔️ El hardware necesario (collar o dispositivo GPS).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✔️ La tecnología para enviar la ubicación en tiempo real.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✔️ La API o interfaz de integración para nuestra aplicación móvil.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948703" y="1820049"/>
            <a:ext cx="13053297" cy="8190944"/>
          </a:xfrm>
          <a:custGeom>
            <a:avLst/>
            <a:gdLst/>
            <a:ahLst/>
            <a:cxnLst/>
            <a:rect r="r" b="b" t="t" l="l"/>
            <a:pathLst>
              <a:path h="8190944" w="13053297">
                <a:moveTo>
                  <a:pt x="0" y="0"/>
                </a:moveTo>
                <a:lnTo>
                  <a:pt x="13053297" y="0"/>
                </a:lnTo>
                <a:lnTo>
                  <a:pt x="13053297" y="8190944"/>
                </a:lnTo>
                <a:lnTo>
                  <a:pt x="0" y="8190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74274" y="656203"/>
            <a:ext cx="12939453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Diagrama de Alcance In/Out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0221" y="4175147"/>
            <a:ext cx="13619337" cy="172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Matriz de Requerimientos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71934" y="7704619"/>
            <a:ext cx="1553681" cy="1553681"/>
            <a:chOff x="0" y="0"/>
            <a:chExt cx="2071575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500230" y="6350525"/>
            <a:ext cx="13223689" cy="0"/>
          </a:xfrm>
          <a:prstGeom prst="line">
            <a:avLst/>
          </a:prstGeom>
          <a:ln cap="rnd" w="9525">
            <a:solidFill>
              <a:srgbClr val="38AA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164964" y="2736893"/>
            <a:ext cx="11094336" cy="3708161"/>
          </a:xfrm>
          <a:custGeom>
            <a:avLst/>
            <a:gdLst/>
            <a:ahLst/>
            <a:cxnLst/>
            <a:rect r="r" b="b" t="t" l="l"/>
            <a:pathLst>
              <a:path h="3708161" w="11094336">
                <a:moveTo>
                  <a:pt x="0" y="0"/>
                </a:moveTo>
                <a:lnTo>
                  <a:pt x="11094336" y="0"/>
                </a:lnTo>
                <a:lnTo>
                  <a:pt x="11094336" y="3708162"/>
                </a:lnTo>
                <a:lnTo>
                  <a:pt x="0" y="3708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595667" y="786162"/>
            <a:ext cx="12939453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Descripción</a:t>
            </a: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679743"/>
            <a:ext cx="5022359" cy="637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la obtención de los requerimientos del sistema, se emplearon técnicas de elicitación como lluvia de ideas y observación del contexto. Esto permitió identificar los requerimientos funcionales, no funcionales y de información necesarios para desarrollar la aplicación móvil Dacky.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670961" y="6550910"/>
            <a:ext cx="8625799" cy="2280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 matriz de trazabilidad permite vincular cada requerimiento con su categoría, origen y funcionalidad dentro del sistema, facilitando el seguimiento y validación durante el desarrollo.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70961" y="8994818"/>
            <a:ext cx="67943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5" tooltip="https://drive.google.com/file/d/1ngMyp_WXRwnqGr2QbY8CSXUlTbZyGmDH/view?usp=drive_web"/>
              </a:rPr>
              <a:t>Enlace de la Matriz de Requerimientos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8579" y="2410823"/>
            <a:ext cx="17930841" cy="7239577"/>
          </a:xfrm>
          <a:custGeom>
            <a:avLst/>
            <a:gdLst/>
            <a:ahLst/>
            <a:cxnLst/>
            <a:rect r="r" b="b" t="t" l="l"/>
            <a:pathLst>
              <a:path h="7239577" w="17930841">
                <a:moveTo>
                  <a:pt x="0" y="0"/>
                </a:moveTo>
                <a:lnTo>
                  <a:pt x="17930842" y="0"/>
                </a:lnTo>
                <a:lnTo>
                  <a:pt x="17930842" y="7239577"/>
                </a:lnTo>
                <a:lnTo>
                  <a:pt x="0" y="72395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86162"/>
            <a:ext cx="12939453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Diagrama de flujo de la elicitación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3449438"/>
            <a:ext cx="18288000" cy="5074920"/>
          </a:xfrm>
          <a:custGeom>
            <a:avLst/>
            <a:gdLst/>
            <a:ahLst/>
            <a:cxnLst/>
            <a:rect r="r" b="b" t="t" l="l"/>
            <a:pathLst>
              <a:path h="5074920" w="18288000">
                <a:moveTo>
                  <a:pt x="0" y="0"/>
                </a:moveTo>
                <a:lnTo>
                  <a:pt x="18288000" y="0"/>
                </a:lnTo>
                <a:lnTo>
                  <a:pt x="18288000" y="5074920"/>
                </a:lnTo>
                <a:lnTo>
                  <a:pt x="0" y="5074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88377" y="786162"/>
            <a:ext cx="12939453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 Diagrama de caso de uso del negocio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0400" y="3960005"/>
            <a:ext cx="13914097" cy="172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Diagrama de Casos de Usos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71934" y="7704619"/>
            <a:ext cx="1553681" cy="1553681"/>
            <a:chOff x="0" y="0"/>
            <a:chExt cx="2071575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flipV="true">
            <a:off x="1460400" y="5691924"/>
            <a:ext cx="13991018" cy="0"/>
          </a:xfrm>
          <a:prstGeom prst="line">
            <a:avLst/>
          </a:prstGeom>
          <a:ln cap="rnd" w="9525">
            <a:solidFill>
              <a:srgbClr val="38AA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460400" y="5491581"/>
            <a:ext cx="11881540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4000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DIAGRAMAS UML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975475" y="1972780"/>
            <a:ext cx="14641176" cy="7796426"/>
          </a:xfrm>
          <a:custGeom>
            <a:avLst/>
            <a:gdLst/>
            <a:ahLst/>
            <a:cxnLst/>
            <a:rect r="r" b="b" t="t" l="l"/>
            <a:pathLst>
              <a:path h="7796426" w="14641176">
                <a:moveTo>
                  <a:pt x="0" y="0"/>
                </a:moveTo>
                <a:lnTo>
                  <a:pt x="14641176" y="0"/>
                </a:lnTo>
                <a:lnTo>
                  <a:pt x="14641176" y="7796426"/>
                </a:lnTo>
                <a:lnTo>
                  <a:pt x="0" y="7796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6904" y="3996745"/>
            <a:ext cx="15471995" cy="172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Diagrama de Entidad - Relación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962059" y="7704619"/>
            <a:ext cx="1553681" cy="1553681"/>
            <a:chOff x="0" y="0"/>
            <a:chExt cx="2071575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525838" y="5728664"/>
            <a:ext cx="12989342" cy="0"/>
          </a:xfrm>
          <a:prstGeom prst="line">
            <a:avLst/>
          </a:prstGeom>
          <a:ln cap="rnd" w="9525">
            <a:solidFill>
              <a:srgbClr val="38AA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66904" y="5533174"/>
            <a:ext cx="11881540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4000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DIAGRAMAS UML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139414" y="549058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627274" y="0"/>
            <a:ext cx="13512140" cy="10184775"/>
          </a:xfrm>
          <a:custGeom>
            <a:avLst/>
            <a:gdLst/>
            <a:ahLst/>
            <a:cxnLst/>
            <a:rect r="r" b="b" t="t" l="l"/>
            <a:pathLst>
              <a:path h="10184775" w="13512140">
                <a:moveTo>
                  <a:pt x="0" y="0"/>
                </a:moveTo>
                <a:lnTo>
                  <a:pt x="13512140" y="0"/>
                </a:lnTo>
                <a:lnTo>
                  <a:pt x="13512140" y="10184775"/>
                </a:lnTo>
                <a:lnTo>
                  <a:pt x="0" y="10184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2850" y="3635769"/>
            <a:ext cx="9993792" cy="172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Modelo Relacional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71934" y="7704619"/>
            <a:ext cx="1553681" cy="1553681"/>
            <a:chOff x="0" y="0"/>
            <a:chExt cx="2071575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flipV="true">
            <a:off x="1212859" y="5362926"/>
            <a:ext cx="9833574" cy="4762"/>
          </a:xfrm>
          <a:prstGeom prst="line">
            <a:avLst/>
          </a:prstGeom>
          <a:ln cap="rnd" w="9525">
            <a:solidFill>
              <a:srgbClr val="38AA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12859" y="5126121"/>
            <a:ext cx="11881540" cy="2186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4000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DIAGRAMAS UML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781574" y="0"/>
            <a:ext cx="12724853" cy="10287000"/>
          </a:xfrm>
          <a:custGeom>
            <a:avLst/>
            <a:gdLst/>
            <a:ahLst/>
            <a:cxnLst/>
            <a:rect r="r" b="b" t="t" l="l"/>
            <a:pathLst>
              <a:path h="10287000" w="12724853">
                <a:moveTo>
                  <a:pt x="0" y="0"/>
                </a:moveTo>
                <a:lnTo>
                  <a:pt x="12724852" y="0"/>
                </a:lnTo>
                <a:lnTo>
                  <a:pt x="1272485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2859" y="4007521"/>
            <a:ext cx="9993792" cy="172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Diagrama de Clases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71934" y="7704619"/>
            <a:ext cx="1553681" cy="1553681"/>
            <a:chOff x="0" y="0"/>
            <a:chExt cx="2071575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212859" y="5734678"/>
            <a:ext cx="10541073" cy="0"/>
          </a:xfrm>
          <a:prstGeom prst="line">
            <a:avLst/>
          </a:prstGeom>
          <a:ln cap="rnd" w="9525">
            <a:solidFill>
              <a:srgbClr val="38AA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12859" y="5625140"/>
            <a:ext cx="11881540" cy="2186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4000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DIAGRAMAS UML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445619" y="347930"/>
            <a:ext cx="13556381" cy="9591139"/>
          </a:xfrm>
          <a:custGeom>
            <a:avLst/>
            <a:gdLst/>
            <a:ahLst/>
            <a:cxnLst/>
            <a:rect r="r" b="b" t="t" l="l"/>
            <a:pathLst>
              <a:path h="9591139" w="13556381">
                <a:moveTo>
                  <a:pt x="0" y="0"/>
                </a:moveTo>
                <a:lnTo>
                  <a:pt x="13556381" y="0"/>
                </a:lnTo>
                <a:lnTo>
                  <a:pt x="13556381" y="9591140"/>
                </a:lnTo>
                <a:lnTo>
                  <a:pt x="0" y="9591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2850" y="4175147"/>
            <a:ext cx="12145538" cy="172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Mockups de la Aplicación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71934" y="7869907"/>
            <a:ext cx="1553681" cy="1553681"/>
            <a:chOff x="0" y="0"/>
            <a:chExt cx="2071575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flipV="true">
            <a:off x="1212859" y="6260777"/>
            <a:ext cx="11808673" cy="0"/>
          </a:xfrm>
          <a:prstGeom prst="line">
            <a:avLst/>
          </a:prstGeom>
          <a:ln cap="rnd" w="9525">
            <a:solidFill>
              <a:srgbClr val="38AA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02359" y="5599036"/>
            <a:ext cx="893799" cy="893799"/>
          </a:xfrm>
          <a:custGeom>
            <a:avLst/>
            <a:gdLst/>
            <a:ahLst/>
            <a:cxnLst/>
            <a:rect r="r" b="b" t="t" l="l"/>
            <a:pathLst>
              <a:path h="893799" w="893799">
                <a:moveTo>
                  <a:pt x="0" y="0"/>
                </a:moveTo>
                <a:lnTo>
                  <a:pt x="893799" y="0"/>
                </a:lnTo>
                <a:lnTo>
                  <a:pt x="893799" y="893799"/>
                </a:lnTo>
                <a:lnTo>
                  <a:pt x="0" y="8937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882166">
            <a:off x="16652847" y="6272657"/>
            <a:ext cx="766538" cy="766538"/>
          </a:xfrm>
          <a:custGeom>
            <a:avLst/>
            <a:gdLst/>
            <a:ahLst/>
            <a:cxnLst/>
            <a:rect r="r" b="b" t="t" l="l"/>
            <a:pathLst>
              <a:path h="766538" w="766538">
                <a:moveTo>
                  <a:pt x="0" y="0"/>
                </a:moveTo>
                <a:lnTo>
                  <a:pt x="766538" y="0"/>
                </a:lnTo>
                <a:lnTo>
                  <a:pt x="766538" y="766538"/>
                </a:lnTo>
                <a:lnTo>
                  <a:pt x="0" y="766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03629" y="904875"/>
            <a:ext cx="12030366" cy="95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Imágenes del Prototipo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2786" y="2443550"/>
            <a:ext cx="3673772" cy="6310973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896026" y="2474217"/>
            <a:ext cx="3673772" cy="6310973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289494" y="2474217"/>
            <a:ext cx="3673772" cy="6310973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82962" y="2474217"/>
            <a:ext cx="3673772" cy="6310973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076431" y="2443550"/>
            <a:ext cx="3673772" cy="6310973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5718238" y="8972550"/>
            <a:ext cx="680114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u="sng">
                <a:solidFill>
                  <a:srgbClr val="11120D"/>
                </a:solidFill>
                <a:latin typeface="Open Sans Bold"/>
                <a:ea typeface="Open Sans Bold"/>
                <a:cs typeface="Open Sans Bold"/>
                <a:sym typeface="Open Sans Bold"/>
                <a:hlinkClick r:id="rId11" tooltip="https://www.figma.com/design/U0fAbrj8HVzxeaCmilv5iM/Mockups-de-la-App-Dacky?node-id=1-2&amp;t=56JPwizG62c7a7TX-1"/>
              </a:rPr>
              <a:t>Enlace de los Mockups en figma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02359" y="5599036"/>
            <a:ext cx="893799" cy="893799"/>
          </a:xfrm>
          <a:custGeom>
            <a:avLst/>
            <a:gdLst/>
            <a:ahLst/>
            <a:cxnLst/>
            <a:rect r="r" b="b" t="t" l="l"/>
            <a:pathLst>
              <a:path h="893799" w="893799">
                <a:moveTo>
                  <a:pt x="0" y="0"/>
                </a:moveTo>
                <a:lnTo>
                  <a:pt x="893799" y="0"/>
                </a:lnTo>
                <a:lnTo>
                  <a:pt x="893799" y="893799"/>
                </a:lnTo>
                <a:lnTo>
                  <a:pt x="0" y="8937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2786" y="2443550"/>
            <a:ext cx="3673772" cy="6310973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896026" y="2474217"/>
            <a:ext cx="3673772" cy="6310973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289494" y="2474217"/>
            <a:ext cx="3673772" cy="6310973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82962" y="2474217"/>
            <a:ext cx="3673772" cy="6310973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076431" y="2474217"/>
            <a:ext cx="3673772" cy="6310973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718893" y="656197"/>
            <a:ext cx="12030366" cy="95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Imágenes del Prototipo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8238" y="8972550"/>
            <a:ext cx="680114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u="sng">
                <a:solidFill>
                  <a:srgbClr val="11120D"/>
                </a:solidFill>
                <a:latin typeface="Open Sans Bold"/>
                <a:ea typeface="Open Sans Bold"/>
                <a:cs typeface="Open Sans Bold"/>
                <a:sym typeface="Open Sans Bold"/>
                <a:hlinkClick r:id="rId11" tooltip="https://www.figma.com/design/U0fAbrj8HVzxeaCmilv5iM/Mockups-de-la-App-Dacky?node-id=1-2&amp;t=56JPwizG62c7a7TX-1"/>
              </a:rPr>
              <a:t>Enlace de los Mockups en figma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2850" y="3842101"/>
            <a:ext cx="12469774" cy="172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Mockups</a:t>
            </a: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 de la Página Web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71934" y="7704619"/>
            <a:ext cx="1553681" cy="1553681"/>
            <a:chOff x="0" y="0"/>
            <a:chExt cx="2071575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028700" y="5911534"/>
            <a:ext cx="12794245" cy="0"/>
          </a:xfrm>
          <a:prstGeom prst="line">
            <a:avLst/>
          </a:prstGeom>
          <a:ln cap="rnd" w="9525">
            <a:solidFill>
              <a:srgbClr val="38AA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02359" y="5599036"/>
            <a:ext cx="893799" cy="893799"/>
          </a:xfrm>
          <a:custGeom>
            <a:avLst/>
            <a:gdLst/>
            <a:ahLst/>
            <a:cxnLst/>
            <a:rect r="r" b="b" t="t" l="l"/>
            <a:pathLst>
              <a:path h="893799" w="893799">
                <a:moveTo>
                  <a:pt x="0" y="0"/>
                </a:moveTo>
                <a:lnTo>
                  <a:pt x="893799" y="0"/>
                </a:lnTo>
                <a:lnTo>
                  <a:pt x="893799" y="893799"/>
                </a:lnTo>
                <a:lnTo>
                  <a:pt x="0" y="8937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882166">
            <a:off x="16652847" y="6272657"/>
            <a:ext cx="766538" cy="766538"/>
          </a:xfrm>
          <a:custGeom>
            <a:avLst/>
            <a:gdLst/>
            <a:ahLst/>
            <a:cxnLst/>
            <a:rect r="r" b="b" t="t" l="l"/>
            <a:pathLst>
              <a:path h="766538" w="766538">
                <a:moveTo>
                  <a:pt x="0" y="0"/>
                </a:moveTo>
                <a:lnTo>
                  <a:pt x="766538" y="0"/>
                </a:lnTo>
                <a:lnTo>
                  <a:pt x="766538" y="766538"/>
                </a:lnTo>
                <a:lnTo>
                  <a:pt x="0" y="766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20829" y="819566"/>
            <a:ext cx="15398071" cy="1020721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504682" y="904875"/>
            <a:ext cx="12030366" cy="95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Imágenes del Prototipo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02359" y="5599036"/>
            <a:ext cx="893799" cy="893799"/>
          </a:xfrm>
          <a:custGeom>
            <a:avLst/>
            <a:gdLst/>
            <a:ahLst/>
            <a:cxnLst/>
            <a:rect r="r" b="b" t="t" l="l"/>
            <a:pathLst>
              <a:path h="893799" w="893799">
                <a:moveTo>
                  <a:pt x="0" y="0"/>
                </a:moveTo>
                <a:lnTo>
                  <a:pt x="893799" y="0"/>
                </a:lnTo>
                <a:lnTo>
                  <a:pt x="893799" y="893799"/>
                </a:lnTo>
                <a:lnTo>
                  <a:pt x="0" y="8937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882166">
            <a:off x="16652847" y="6272657"/>
            <a:ext cx="766538" cy="766538"/>
          </a:xfrm>
          <a:custGeom>
            <a:avLst/>
            <a:gdLst/>
            <a:ahLst/>
            <a:cxnLst/>
            <a:rect r="r" b="b" t="t" l="l"/>
            <a:pathLst>
              <a:path h="766538" w="766538">
                <a:moveTo>
                  <a:pt x="0" y="0"/>
                </a:moveTo>
                <a:lnTo>
                  <a:pt x="766538" y="0"/>
                </a:lnTo>
                <a:lnTo>
                  <a:pt x="766538" y="766538"/>
                </a:lnTo>
                <a:lnTo>
                  <a:pt x="0" y="766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20829" y="819566"/>
            <a:ext cx="15398071" cy="1020721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128817" y="656197"/>
            <a:ext cx="12030366" cy="95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Imágenes del Prototipo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2850" y="3842101"/>
            <a:ext cx="12469774" cy="172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Funcianalidades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71934" y="8007647"/>
            <a:ext cx="1553681" cy="1553681"/>
            <a:chOff x="0" y="0"/>
            <a:chExt cx="2071575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028700" y="5911534"/>
            <a:ext cx="12794245" cy="0"/>
          </a:xfrm>
          <a:prstGeom prst="line">
            <a:avLst/>
          </a:prstGeom>
          <a:ln cap="rnd" w="9525">
            <a:solidFill>
              <a:srgbClr val="38AA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55322" y="2648465"/>
            <a:ext cx="666111" cy="666111"/>
          </a:xfrm>
          <a:custGeom>
            <a:avLst/>
            <a:gdLst/>
            <a:ahLst/>
            <a:cxnLst/>
            <a:rect r="r" b="b" t="t" l="l"/>
            <a:pathLst>
              <a:path h="666111" w="666111">
                <a:moveTo>
                  <a:pt x="0" y="0"/>
                </a:moveTo>
                <a:lnTo>
                  <a:pt x="666111" y="0"/>
                </a:lnTo>
                <a:lnTo>
                  <a:pt x="666111" y="666111"/>
                </a:lnTo>
                <a:lnTo>
                  <a:pt x="0" y="666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639617" y="1550918"/>
            <a:ext cx="7755973" cy="5141348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99875" y="5477553"/>
            <a:ext cx="8016982" cy="5314368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0">
            <a:off x="1092011" y="6432239"/>
            <a:ext cx="792733" cy="849357"/>
          </a:xfrm>
          <a:custGeom>
            <a:avLst/>
            <a:gdLst/>
            <a:ahLst/>
            <a:cxnLst/>
            <a:rect r="r" b="b" t="t" l="l"/>
            <a:pathLst>
              <a:path h="849357" w="792733">
                <a:moveTo>
                  <a:pt x="0" y="0"/>
                </a:moveTo>
                <a:lnTo>
                  <a:pt x="792733" y="0"/>
                </a:lnTo>
                <a:lnTo>
                  <a:pt x="792733" y="849356"/>
                </a:lnTo>
                <a:lnTo>
                  <a:pt x="0" y="8493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786162"/>
            <a:ext cx="12939453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Funcionalidades activas (web)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9042" y="2202285"/>
            <a:ext cx="6201398" cy="78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Usuario:</a:t>
            </a:r>
          </a:p>
          <a:p>
            <a:pPr algn="l">
              <a:lnSpc>
                <a:spcPts val="3840"/>
              </a:lnSpc>
            </a:pP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Inicio de sesión (validación de credenciales con base de datos)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Registro de nuevos usuarios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Vista de perfil con datos personales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Administrador (backend):</a:t>
            </a:r>
          </a:p>
          <a:p>
            <a:pPr algn="l">
              <a:lnSpc>
                <a:spcPts val="3840"/>
              </a:lnSpc>
            </a:pP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Acceso a panel de administración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CRUD sobre la tabla iniciosesion de la base de datos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708" y="5278546"/>
            <a:ext cx="2874391" cy="493776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05334" y="2231143"/>
            <a:ext cx="2874391" cy="493776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35960" y="5278546"/>
            <a:ext cx="2874391" cy="493776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558856" y="2231143"/>
            <a:ext cx="2874391" cy="4937760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1169569" y="2437629"/>
            <a:ext cx="637617" cy="1078423"/>
          </a:xfrm>
          <a:custGeom>
            <a:avLst/>
            <a:gdLst/>
            <a:ahLst/>
            <a:cxnLst/>
            <a:rect r="r" b="b" t="t" l="l"/>
            <a:pathLst>
              <a:path h="1078423" w="637617">
                <a:moveTo>
                  <a:pt x="0" y="0"/>
                </a:moveTo>
                <a:lnTo>
                  <a:pt x="637617" y="0"/>
                </a:lnTo>
                <a:lnTo>
                  <a:pt x="637617" y="1078422"/>
                </a:lnTo>
                <a:lnTo>
                  <a:pt x="0" y="10784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30883" y="656203"/>
            <a:ext cx="12939453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Funcionalidades en desarrollo (app móvil)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9042" y="2202285"/>
            <a:ext cx="6201398" cy="78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Dacky (Flutter):</a:t>
            </a:r>
          </a:p>
          <a:p>
            <a:pPr algn="l">
              <a:lnSpc>
                <a:spcPts val="3840"/>
              </a:lnSpc>
            </a:pP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 implementado: pantallas de inicio, registro,  tarjeta de vacunas y navegación entre screens</a:t>
            </a:r>
          </a:p>
          <a:p>
            <a:pPr algn="l">
              <a:lnSpc>
                <a:spcPts val="3840"/>
              </a:lnSpc>
            </a:pP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Aún no conectado al backend</a:t>
            </a:r>
          </a:p>
          <a:p>
            <a:pPr algn="l">
              <a:lnSpc>
                <a:spcPts val="3840"/>
              </a:lnSpc>
            </a:pP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Planeación de funcionalidades: registro de mascotas, escaneo QR.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265218" y="2102739"/>
            <a:ext cx="13960008" cy="7520954"/>
          </a:xfrm>
          <a:custGeom>
            <a:avLst/>
            <a:gdLst/>
            <a:ahLst/>
            <a:cxnLst/>
            <a:rect r="r" b="b" t="t" l="l"/>
            <a:pathLst>
              <a:path h="7520954" w="13960008">
                <a:moveTo>
                  <a:pt x="0" y="0"/>
                </a:moveTo>
                <a:lnTo>
                  <a:pt x="13960008" y="0"/>
                </a:lnTo>
                <a:lnTo>
                  <a:pt x="13960008" y="7520954"/>
                </a:lnTo>
                <a:lnTo>
                  <a:pt x="0" y="7520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86162"/>
            <a:ext cx="12939453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Diagrama de flujo de Datos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2850" y="3842101"/>
            <a:ext cx="12469774" cy="172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Documentación</a:t>
            </a: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 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71934" y="7952551"/>
            <a:ext cx="1553681" cy="1553681"/>
            <a:chOff x="0" y="0"/>
            <a:chExt cx="2071575" cy="20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028700" y="5911534"/>
            <a:ext cx="12794245" cy="0"/>
          </a:xfrm>
          <a:prstGeom prst="line">
            <a:avLst/>
          </a:prstGeom>
          <a:ln cap="rnd" w="9525">
            <a:solidFill>
              <a:srgbClr val="38AA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02359" y="5599036"/>
            <a:ext cx="893799" cy="893799"/>
          </a:xfrm>
          <a:custGeom>
            <a:avLst/>
            <a:gdLst/>
            <a:ahLst/>
            <a:cxnLst/>
            <a:rect r="r" b="b" t="t" l="l"/>
            <a:pathLst>
              <a:path h="893799" w="893799">
                <a:moveTo>
                  <a:pt x="0" y="0"/>
                </a:moveTo>
                <a:lnTo>
                  <a:pt x="893799" y="0"/>
                </a:lnTo>
                <a:lnTo>
                  <a:pt x="893799" y="893799"/>
                </a:lnTo>
                <a:lnTo>
                  <a:pt x="0" y="8937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882166">
            <a:off x="16652847" y="6272657"/>
            <a:ext cx="766538" cy="766538"/>
          </a:xfrm>
          <a:custGeom>
            <a:avLst/>
            <a:gdLst/>
            <a:ahLst/>
            <a:cxnLst/>
            <a:rect r="r" b="b" t="t" l="l"/>
            <a:pathLst>
              <a:path h="766538" w="766538">
                <a:moveTo>
                  <a:pt x="0" y="0"/>
                </a:moveTo>
                <a:lnTo>
                  <a:pt x="766538" y="0"/>
                </a:lnTo>
                <a:lnTo>
                  <a:pt x="766538" y="766538"/>
                </a:lnTo>
                <a:lnTo>
                  <a:pt x="0" y="766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16718" y="1413665"/>
            <a:ext cx="14808276" cy="7459669"/>
          </a:xfrm>
          <a:custGeom>
            <a:avLst/>
            <a:gdLst/>
            <a:ahLst/>
            <a:cxnLst/>
            <a:rect r="r" b="b" t="t" l="l"/>
            <a:pathLst>
              <a:path h="7459669" w="14808276">
                <a:moveTo>
                  <a:pt x="0" y="0"/>
                </a:moveTo>
                <a:lnTo>
                  <a:pt x="14808276" y="0"/>
                </a:lnTo>
                <a:lnTo>
                  <a:pt x="14808276" y="7459670"/>
                </a:lnTo>
                <a:lnTo>
                  <a:pt x="0" y="7459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002212" y="9201150"/>
            <a:ext cx="66372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7" tooltip="https://www.notion.so/Proyecto-Dacky-21b943cbb6a380888af8fcc987ac841b?source=copy_link"/>
              </a:rPr>
              <a:t>Enlace a la Documentación en Notion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74273" y="295274"/>
            <a:ext cx="12939453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Herramienta de Documentación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2034" y="1520480"/>
            <a:ext cx="14994082" cy="7796923"/>
          </a:xfrm>
          <a:custGeom>
            <a:avLst/>
            <a:gdLst/>
            <a:ahLst/>
            <a:cxnLst/>
            <a:rect r="r" b="b" t="t" l="l"/>
            <a:pathLst>
              <a:path h="7796923" w="14994082">
                <a:moveTo>
                  <a:pt x="0" y="0"/>
                </a:moveTo>
                <a:lnTo>
                  <a:pt x="14994082" y="0"/>
                </a:lnTo>
                <a:lnTo>
                  <a:pt x="14994082" y="7796923"/>
                </a:lnTo>
                <a:lnTo>
                  <a:pt x="0" y="7796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2359" y="5599036"/>
            <a:ext cx="893799" cy="893799"/>
          </a:xfrm>
          <a:custGeom>
            <a:avLst/>
            <a:gdLst/>
            <a:ahLst/>
            <a:cxnLst/>
            <a:rect r="r" b="b" t="t" l="l"/>
            <a:pathLst>
              <a:path h="893799" w="893799">
                <a:moveTo>
                  <a:pt x="0" y="0"/>
                </a:moveTo>
                <a:lnTo>
                  <a:pt x="893799" y="0"/>
                </a:lnTo>
                <a:lnTo>
                  <a:pt x="893799" y="893799"/>
                </a:lnTo>
                <a:lnTo>
                  <a:pt x="0" y="8937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882166">
            <a:off x="16652847" y="6272657"/>
            <a:ext cx="766538" cy="766538"/>
          </a:xfrm>
          <a:custGeom>
            <a:avLst/>
            <a:gdLst/>
            <a:ahLst/>
            <a:cxnLst/>
            <a:rect r="r" b="b" t="t" l="l"/>
            <a:pathLst>
              <a:path h="766538" w="766538">
                <a:moveTo>
                  <a:pt x="0" y="0"/>
                </a:moveTo>
                <a:lnTo>
                  <a:pt x="766538" y="0"/>
                </a:lnTo>
                <a:lnTo>
                  <a:pt x="766538" y="766538"/>
                </a:lnTo>
                <a:lnTo>
                  <a:pt x="0" y="7665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825356" y="9260253"/>
            <a:ext cx="66372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7" tooltip="https://www.notion.so/Proyecto-Dacky-21b943cbb6a380888af8fcc987ac841b?source=copy_link"/>
              </a:rPr>
              <a:t>Enlace a la Documentación en Notion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74273" y="295274"/>
            <a:ext cx="12939453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Avances de Documentación y Manuales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02000" y="419099"/>
            <a:ext cx="1893549" cy="1553681"/>
            <a:chOff x="0" y="0"/>
            <a:chExt cx="2524732" cy="207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4760" cy="2071624"/>
            </a:xfrm>
            <a:custGeom>
              <a:avLst/>
              <a:gdLst/>
              <a:ahLst/>
              <a:cxnLst/>
              <a:rect r="r" b="b" t="t" l="l"/>
              <a:pathLst>
                <a:path h="2071624" w="2524760">
                  <a:moveTo>
                    <a:pt x="0" y="0"/>
                  </a:moveTo>
                  <a:lnTo>
                    <a:pt x="2524760" y="0"/>
                  </a:lnTo>
                  <a:lnTo>
                    <a:pt x="2524760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1537" y="549058"/>
            <a:ext cx="1553681" cy="1553681"/>
            <a:chOff x="0" y="0"/>
            <a:chExt cx="2071575" cy="2071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22441" y="2324717"/>
            <a:ext cx="16136859" cy="7758911"/>
          </a:xfrm>
          <a:custGeom>
            <a:avLst/>
            <a:gdLst/>
            <a:ahLst/>
            <a:cxnLst/>
            <a:rect r="r" b="b" t="t" l="l"/>
            <a:pathLst>
              <a:path h="7758911" w="16136859">
                <a:moveTo>
                  <a:pt x="0" y="0"/>
                </a:moveTo>
                <a:lnTo>
                  <a:pt x="16136859" y="0"/>
                </a:lnTo>
                <a:lnTo>
                  <a:pt x="16136859" y="7758910"/>
                </a:lnTo>
                <a:lnTo>
                  <a:pt x="0" y="7758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6" t="0" r="-21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74273" y="786162"/>
            <a:ext cx="12939453" cy="9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4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Diagrama de Arquitectura Cliente - Servidor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664463"/>
            <a:ext cx="6677363" cy="1622537"/>
            <a:chOff x="0" y="0"/>
            <a:chExt cx="8903151" cy="21633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03208" cy="2163445"/>
            </a:xfrm>
            <a:custGeom>
              <a:avLst/>
              <a:gdLst/>
              <a:ahLst/>
              <a:cxnLst/>
              <a:rect r="r" b="b" t="t" l="l"/>
              <a:pathLst>
                <a:path h="2163445" w="8903208">
                  <a:moveTo>
                    <a:pt x="0" y="0"/>
                  </a:moveTo>
                  <a:lnTo>
                    <a:pt x="8903208" y="0"/>
                  </a:lnTo>
                  <a:lnTo>
                    <a:pt x="8903208" y="2163445"/>
                  </a:lnTo>
                  <a:lnTo>
                    <a:pt x="0" y="2163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77363" y="3945145"/>
            <a:ext cx="7885786" cy="171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11120D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GRACIAS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0640" y="569014"/>
            <a:ext cx="1553681" cy="1553681"/>
            <a:chOff x="0" y="0"/>
            <a:chExt cx="2071575" cy="207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5490679" y="310472"/>
            <a:ext cx="2208646" cy="1812222"/>
            <a:chOff x="0" y="0"/>
            <a:chExt cx="7085219" cy="58135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85203" cy="5813552"/>
            </a:xfrm>
            <a:custGeom>
              <a:avLst/>
              <a:gdLst/>
              <a:ahLst/>
              <a:cxnLst/>
              <a:rect r="r" b="b" t="t" l="l"/>
              <a:pathLst>
                <a:path h="5813552" w="7085203">
                  <a:moveTo>
                    <a:pt x="0" y="0"/>
                  </a:moveTo>
                  <a:lnTo>
                    <a:pt x="7085203" y="0"/>
                  </a:lnTo>
                  <a:lnTo>
                    <a:pt x="7085203" y="5813552"/>
                  </a:lnTo>
                  <a:lnTo>
                    <a:pt x="0" y="581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28134" y="4366825"/>
            <a:ext cx="7831732" cy="1995489"/>
            <a:chOff x="0" y="0"/>
            <a:chExt cx="2062678" cy="5255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62678" cy="525561"/>
            </a:xfrm>
            <a:custGeom>
              <a:avLst/>
              <a:gdLst/>
              <a:ahLst/>
              <a:cxnLst/>
              <a:rect r="r" b="b" t="t" l="l"/>
              <a:pathLst>
                <a:path h="525561" w="2062678">
                  <a:moveTo>
                    <a:pt x="0" y="0"/>
                  </a:moveTo>
                  <a:lnTo>
                    <a:pt x="2062678" y="0"/>
                  </a:lnTo>
                  <a:lnTo>
                    <a:pt x="2062678" y="525561"/>
                  </a:lnTo>
                  <a:lnTo>
                    <a:pt x="0" y="525561"/>
                  </a:lnTo>
                  <a:close/>
                </a:path>
              </a:pathLst>
            </a:custGeom>
            <a:solidFill>
              <a:srgbClr val="01AD0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62678" cy="563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40464" y="4184642"/>
            <a:ext cx="7885786" cy="171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FEFEFE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GRACIAS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13520" y="4348652"/>
            <a:ext cx="1553681" cy="1553681"/>
            <a:chOff x="0" y="0"/>
            <a:chExt cx="2071575" cy="20715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1624" cy="2071624"/>
            </a:xfrm>
            <a:custGeom>
              <a:avLst/>
              <a:gdLst/>
              <a:ahLst/>
              <a:cxnLst/>
              <a:rect r="r" b="b" t="t" l="l"/>
              <a:pathLst>
                <a:path h="2071624" w="2071624">
                  <a:moveTo>
                    <a:pt x="0" y="0"/>
                  </a:moveTo>
                  <a:lnTo>
                    <a:pt x="2071624" y="0"/>
                  </a:lnTo>
                  <a:lnTo>
                    <a:pt x="2071624" y="2071624"/>
                  </a:lnTo>
                  <a:lnTo>
                    <a:pt x="0" y="207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DAGrUurQv0E</dc:identifier>
  <dcterms:modified xsi:type="dcterms:W3CDTF">2011-08-01T06:04:30Z</dcterms:modified>
  <cp:revision>1</cp:revision>
  <dc:title>DACKY  Presentación</dc:title>
</cp:coreProperties>
</file>